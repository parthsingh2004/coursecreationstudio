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Frontend Engineering Onboarding: Advanced React &amp; Modern Standards</a:t>
            </a:r>
          </a:p>
        </p:txBody>
      </p:sp>
      <p:sp>
        <p:nvSpPr>
          <p:cNvPr id="3" name="Subtitle 2"/>
          <p:cNvSpPr>
            <a:spLocks noGrp="1"/>
          </p:cNvSpPr>
          <p:nvPr>
            <p:ph type="subTitle" idx="1"/>
          </p:nvPr>
        </p:nvSpPr>
        <p:spPr/>
        <p:txBody>
          <a:bodyPr/>
          <a:lstStyle/>
          <a:p>
            <a:r>
              <a:t>A comprehensive onboarding program designed for newly hired frontend engineers to align with our specific React implementation, architectural patterns, and modern frontend standards. This course covers monorepo navigation, advanced component design, state management, testing paradigms, and performance optimization to ensure high-quality product delivery.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1: Development Environment &amp; Architecture</a:t>
            </a:r>
          </a:p>
        </p:txBody>
      </p:sp>
      <p:sp>
        <p:nvSpPr>
          <p:cNvPr id="3" name="Text Placeholder 2"/>
          <p:cNvSpPr>
            <a:spLocks noGrp="1"/>
          </p:cNvSpPr>
          <p:nvPr>
            <p:ph type="body" idx="1"/>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Understanding Our Monorepo Structure</a:t>
            </a:r>
          </a:p>
        </p:txBody>
      </p:sp>
      <p:sp>
        <p:nvSpPr>
          <p:cNvPr id="3" name="Content Placeholder 2"/>
          <p:cNvSpPr>
            <a:spLocks noGrp="1"/>
          </p:cNvSpPr>
          <p:nvPr>
            <p:ph idx="1"/>
          </p:nvPr>
        </p:nvSpPr>
        <p:spPr/>
        <p:txBody>
          <a:bodyPr/>
          <a:lstStyle/>
          <a:p/>
          <a:p>
            <a:pPr/>
            <a:r>
              <a:t>Workspace-based architecture using Turborepo</a:t>
            </a:r>
          </a:p>
          <a:p>
            <a:pPr/>
            <a:r>
              <a:t>Separation of concerns: /apps vs. /packages</a:t>
            </a:r>
          </a:p>
          <a:p>
            <a:pPr/>
            <a:r>
              <a:t>Shared configurations for TypeScript, ESLint, and Tailwind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Setting Up Your Workspace</a:t>
            </a:r>
          </a:p>
        </p:txBody>
      </p:sp>
      <p:sp>
        <p:nvSpPr>
          <p:cNvPr id="3" name="Content Placeholder 2"/>
          <p:cNvSpPr>
            <a:spLocks noGrp="1"/>
          </p:cNvSpPr>
          <p:nvPr>
            <p:ph idx="1"/>
          </p:nvPr>
        </p:nvSpPr>
        <p:spPr/>
        <p:txBody>
          <a:bodyPr/>
          <a:lstStyle/>
          <a:p/>
          <a:p>
            <a:pPr/>
            <a:r>
              <a:t>Node.js version management using Volta or .nvmrc</a:t>
            </a:r>
          </a:p>
          <a:p>
            <a:pPr/>
            <a:r>
              <a:t>Package management with pnpm for speed and disk efficiency</a:t>
            </a:r>
          </a:p>
          <a:p>
            <a:pPr/>
            <a:r>
              <a:t>Pre-commit hooks with Husky and lint-staged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Implementing Design Tokens</a:t>
            </a:r>
          </a:p>
        </p:txBody>
      </p:sp>
      <p:sp>
        <p:nvSpPr>
          <p:cNvPr id="3" name="Content Placeholder 2"/>
          <p:cNvSpPr>
            <a:spLocks noGrp="1"/>
          </p:cNvSpPr>
          <p:nvPr>
            <p:ph idx="1"/>
          </p:nvPr>
        </p:nvSpPr>
        <p:spPr/>
        <p:txBody>
          <a:bodyPr/>
          <a:lstStyle/>
          <a:p/>
          <a:p>
            <a:pPr/>
            <a:r>
              <a:t>Tailwind CSS integrated with our shared design tokens</a:t>
            </a:r>
          </a:p>
          <a:p>
            <a:pPr/>
            <a:r>
              <a:t>Strict adherence to the semantic color palette</a:t>
            </a:r>
          </a:p>
          <a:p>
            <a:pPr/>
            <a:r>
              <a:t>Utility-first styling with custom component extensions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Quiz: Where are reusable packages and shared configurations located in our monorepo?</a:t>
            </a:r>
          </a:p>
        </p:txBody>
      </p:sp>
      <p:sp>
        <p:nvSpPr>
          <p:cNvPr id="3" name="Content Placeholder 2"/>
          <p:cNvSpPr>
            <a:spLocks noGrp="1"/>
          </p:cNvSpPr>
          <p:nvPr>
            <p:ph idx="1"/>
          </p:nvPr>
        </p:nvSpPr>
        <p:spPr/>
        <p:txBody>
          <a:bodyPr/>
          <a:lstStyle/>
          <a:p/>
          <a:p>
            <a:pPr/>
            <a:r>
              <a:t>A. In the /apps directory</a:t>
            </a:r>
          </a:p>
          <a:p>
            <a:pPr/>
            <a:r>
              <a:t>B. [Correct] In the /packages directory</a:t>
            </a:r>
          </a:p>
          <a:p>
            <a:pPr/>
            <a:r>
              <a:t>C. In the root node_modules folder</a:t>
            </a:r>
          </a:p>
          <a:p>
            <a:pPr/>
            <a:r>
              <a:t>D. In the /config directory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Quiz: Which tool is used to enforce code formatting and linting during the pre-commit stage?</a:t>
            </a:r>
          </a:p>
        </p:txBody>
      </p:sp>
      <p:sp>
        <p:nvSpPr>
          <p:cNvPr id="3" name="Content Placeholder 2"/>
          <p:cNvSpPr>
            <a:spLocks noGrp="1"/>
          </p:cNvSpPr>
          <p:nvPr>
            <p:ph idx="1"/>
          </p:nvPr>
        </p:nvSpPr>
        <p:spPr/>
        <p:txBody>
          <a:bodyPr/>
          <a:lstStyle/>
          <a:p/>
          <a:p>
            <a:pPr/>
            <a:r>
              <a:t>A. Turborepo</a:t>
            </a:r>
          </a:p>
          <a:p>
            <a:pPr/>
            <a:r>
              <a:t>B. [Correct] Husky and lint-staged</a:t>
            </a:r>
          </a:p>
          <a:p>
            <a:pPr/>
            <a:r>
              <a:t>C. Volta</a:t>
            </a:r>
          </a:p>
          <a:p>
            <a:pPr/>
            <a:r>
              <a:t>D. Tailwind CSS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2: Advanced React Patterns &amp; State Management</a:t>
            </a:r>
          </a:p>
        </p:txBody>
      </p:sp>
      <p:sp>
        <p:nvSpPr>
          <p:cNvPr id="3" name="Text Placeholder 2"/>
          <p:cNvSpPr>
            <a:spLocks noGrp="1"/>
          </p:cNvSpPr>
          <p:nvPr>
            <p:ph type="body" idx="1"/>
          </p:nvPr>
        </p:nvSpPr>
        <p:spPr/>
        <p:txBody>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Compound Components &amp; Composition</a:t>
            </a:r>
          </a:p>
        </p:txBody>
      </p:sp>
      <p:sp>
        <p:nvSpPr>
          <p:cNvPr id="3" name="Content Placeholder 2"/>
          <p:cNvSpPr>
            <a:spLocks noGrp="1"/>
          </p:cNvSpPr>
          <p:nvPr>
            <p:ph idx="1"/>
          </p:nvPr>
        </p:nvSpPr>
        <p:spPr/>
        <p:txBody>
          <a:bodyPr/>
          <a:lstStyle/>
          <a:p/>
          <a:p>
            <a:pPr/>
            <a:r>
              <a:t>Favor composition over deeply nested prop drilling</a:t>
            </a:r>
          </a:p>
          <a:p>
            <a:pPr/>
            <a:r>
              <a:t>Implement compound components for complex UI controls</a:t>
            </a:r>
          </a:p>
          <a:p>
            <a:pPr/>
            <a:r>
              <a:t>Maintain clean, readable JSX structures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Extracting Stateful Logic</a:t>
            </a:r>
          </a:p>
        </p:txBody>
      </p:sp>
      <p:sp>
        <p:nvSpPr>
          <p:cNvPr id="3" name="Content Placeholder 2"/>
          <p:cNvSpPr>
            <a:spLocks noGrp="1"/>
          </p:cNvSpPr>
          <p:nvPr>
            <p:ph idx="1"/>
          </p:nvPr>
        </p:nvSpPr>
        <p:spPr/>
        <p:txBody>
          <a:bodyPr/>
          <a:lstStyle/>
          <a:p/>
          <a:p>
            <a:pPr/>
            <a:r>
              <a:t>Isolate business logic from presentational components</a:t>
            </a:r>
          </a:p>
          <a:p>
            <a:pPr/>
            <a:r>
              <a:t>Create reusable custom hooks for side effects and state</a:t>
            </a:r>
          </a:p>
          <a:p>
            <a:pPr/>
            <a:r>
              <a:t>Adhere to the Rules of Hooks and clean up side effects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Choosing the Right State Strategy</a:t>
            </a:r>
          </a:p>
        </p:txBody>
      </p:sp>
      <p:sp>
        <p:nvSpPr>
          <p:cNvPr id="3" name="Content Placeholder 2"/>
          <p:cNvSpPr>
            <a:spLocks noGrp="1"/>
          </p:cNvSpPr>
          <p:nvPr>
            <p:ph idx="1"/>
          </p:nvPr>
        </p:nvSpPr>
        <p:spPr/>
        <p:txBody>
          <a:bodyPr/>
          <a:lstStyle/>
          <a:p/>
          <a:p>
            <a:pPr/>
            <a:r>
              <a:t>Use local useState and useReducer for component-specific state</a:t>
            </a:r>
          </a:p>
          <a:p>
            <a:pPr/>
            <a:r>
              <a:t>Leverage Zustand for lightweight, global client-side state</a:t>
            </a:r>
          </a:p>
          <a:p>
            <a:pPr/>
            <a:r>
              <a:t>Avoid overusing React Context for high-frequency updates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Quiz: What pattern is recommended for managing implicit state among a group of related UI components?</a:t>
            </a:r>
          </a:p>
        </p:txBody>
      </p:sp>
      <p:sp>
        <p:nvSpPr>
          <p:cNvPr id="3" name="Content Placeholder 2"/>
          <p:cNvSpPr>
            <a:spLocks noGrp="1"/>
          </p:cNvSpPr>
          <p:nvPr>
            <p:ph idx="1"/>
          </p:nvPr>
        </p:nvSpPr>
        <p:spPr/>
        <p:txBody>
          <a:bodyPr/>
          <a:lstStyle/>
          <a:p/>
          <a:p>
            <a:pPr/>
            <a:r>
              <a:t>A. Prop Drilling Pattern</a:t>
            </a:r>
          </a:p>
          <a:p>
            <a:pPr/>
            <a:r>
              <a:t>B. Higher-Order Components</a:t>
            </a:r>
          </a:p>
          <a:p>
            <a:pPr/>
            <a:r>
              <a:t>C. [Correct] Compound Components Pattern</a:t>
            </a:r>
          </a:p>
          <a:p>
            <a:pPr/>
            <a:r>
              <a:t>D. Redux State Pattern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Quiz: Why is Zustand preferred over React Context for high-frequency global state updates?</a:t>
            </a:r>
          </a:p>
        </p:txBody>
      </p:sp>
      <p:sp>
        <p:nvSpPr>
          <p:cNvPr id="3" name="Content Placeholder 2"/>
          <p:cNvSpPr>
            <a:spLocks noGrp="1"/>
          </p:cNvSpPr>
          <p:nvPr>
            <p:ph idx="1"/>
          </p:nvPr>
        </p:nvSpPr>
        <p:spPr/>
        <p:txBody>
          <a:bodyPr/>
          <a:lstStyle/>
          <a:p/>
          <a:p>
            <a:pPr/>
            <a:r>
              <a:t>A. Zustand does not support TypeScript.</a:t>
            </a:r>
          </a:p>
          <a:p>
            <a:pPr/>
            <a:r>
              <a:t>B. [Correct] React Context can trigger unnecessary re-renders across the entire component tree.</a:t>
            </a:r>
          </a:p>
          <a:p>
            <a:pPr/>
            <a:r>
              <a:t>C. Zustand is built directly into the React core library.</a:t>
            </a:r>
          </a:p>
          <a:p>
            <a:pPr/>
            <a:r>
              <a:t>D. React Context cannot handle asynchronous actions.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3: Data Fetching &amp; API Integration</a:t>
            </a:r>
          </a:p>
        </p:txBody>
      </p:sp>
      <p:sp>
        <p:nvSpPr>
          <p:cNvPr id="3" name="Text Placeholder 2"/>
          <p:cNvSpPr>
            <a:spLocks noGrp="1"/>
          </p:cNvSpPr>
          <p:nvPr>
            <p:ph type="body" idx="1"/>
          </p:nvPr>
        </p:nvSpPr>
        <p:spPr/>
        <p:txBody>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Server State with TanStack Query</a:t>
            </a:r>
          </a:p>
        </p:txBody>
      </p:sp>
      <p:sp>
        <p:nvSpPr>
          <p:cNvPr id="3" name="Content Placeholder 2"/>
          <p:cNvSpPr>
            <a:spLocks noGrp="1"/>
          </p:cNvSpPr>
          <p:nvPr>
            <p:ph idx="1"/>
          </p:nvPr>
        </p:nvSpPr>
        <p:spPr/>
        <p:txBody>
          <a:bodyPr/>
          <a:lstStyle/>
          <a:p/>
          <a:p>
            <a:pPr/>
            <a:r>
              <a:t>Manage server state using TanStack Query (React Query)</a:t>
            </a:r>
          </a:p>
          <a:p>
            <a:pPr/>
            <a:r>
              <a:t>Configure staleTime and cacheTime to optimize network requests</a:t>
            </a:r>
          </a:p>
          <a:p>
            <a:pPr/>
            <a:r>
              <a:t>Implement optimistic updates for responsive user experiences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Robust API Clients &amp; Error Boundaries</a:t>
            </a:r>
          </a:p>
        </p:txBody>
      </p:sp>
      <p:sp>
        <p:nvSpPr>
          <p:cNvPr id="3" name="Content Placeholder 2"/>
          <p:cNvSpPr>
            <a:spLocks noGrp="1"/>
          </p:cNvSpPr>
          <p:nvPr>
            <p:ph idx="1"/>
          </p:nvPr>
        </p:nvSpPr>
        <p:spPr/>
        <p:txBody>
          <a:bodyPr/>
          <a:lstStyle/>
          <a:p/>
          <a:p>
            <a:pPr/>
            <a:r>
              <a:t>Standardized Axios client with global interceptors</a:t>
            </a:r>
          </a:p>
          <a:p>
            <a:pPr/>
            <a:r>
              <a:t>Graceful error handling using React Error Boundaries</a:t>
            </a:r>
          </a:p>
          <a:p>
            <a:pPr/>
            <a:r>
              <a:t>Structured fallback UIs for network failures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End-to-End Type Safety</a:t>
            </a:r>
          </a:p>
        </p:txBody>
      </p:sp>
      <p:sp>
        <p:nvSpPr>
          <p:cNvPr id="3" name="Content Placeholder 2"/>
          <p:cNvSpPr>
            <a:spLocks noGrp="1"/>
          </p:cNvSpPr>
          <p:nvPr>
            <p:ph idx="1"/>
          </p:nvPr>
        </p:nvSpPr>
        <p:spPr/>
        <p:txBody>
          <a:bodyPr/>
          <a:lstStyle/>
          <a:p/>
          <a:p>
            <a:pPr/>
            <a:r>
              <a:t>Generate TypeScript interfaces from OpenAPI schemas</a:t>
            </a:r>
          </a:p>
          <a:p>
            <a:pPr/>
            <a:r>
              <a:t>Validate runtime payloads using Zod schemas</a:t>
            </a:r>
          </a:p>
          <a:p>
            <a:pPr/>
            <a:r>
              <a:t>Avoid using 'any' to preserve type safety across boundaries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Quiz: Which library is our standard for managing and caching server state?</a:t>
            </a:r>
          </a:p>
        </p:txBody>
      </p:sp>
      <p:sp>
        <p:nvSpPr>
          <p:cNvPr id="3" name="Content Placeholder 2"/>
          <p:cNvSpPr>
            <a:spLocks noGrp="1"/>
          </p:cNvSpPr>
          <p:nvPr>
            <p:ph idx="1"/>
          </p:nvPr>
        </p:nvSpPr>
        <p:spPr/>
        <p:txBody>
          <a:bodyPr/>
          <a:lstStyle/>
          <a:p/>
          <a:p>
            <a:pPr/>
            <a:r>
              <a:t>A. Zustand</a:t>
            </a:r>
          </a:p>
          <a:p>
            <a:pPr/>
            <a:r>
              <a:t>B. Axios</a:t>
            </a:r>
          </a:p>
          <a:p>
            <a:pPr/>
            <a:r>
              <a:t>C. [Correct] TanStack Query</a:t>
            </a:r>
          </a:p>
          <a:p>
            <a:pPr/>
            <a:r>
              <a:t>D. Zod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Quiz: How do we validate external API payloads at the application boundary?</a:t>
            </a:r>
          </a:p>
        </p:txBody>
      </p:sp>
      <p:sp>
        <p:nvSpPr>
          <p:cNvPr id="3" name="Content Placeholder 2"/>
          <p:cNvSpPr>
            <a:spLocks noGrp="1"/>
          </p:cNvSpPr>
          <p:nvPr>
            <p:ph idx="1"/>
          </p:nvPr>
        </p:nvSpPr>
        <p:spPr/>
        <p:txBody>
          <a:bodyPr/>
          <a:lstStyle/>
          <a:p/>
          <a:p>
            <a:pPr/>
            <a:r>
              <a:t>A. Using TypeScript 'any' types</a:t>
            </a:r>
          </a:p>
          <a:p>
            <a:pPr/>
            <a:r>
              <a:t>B. [Correct] Using Zod schemas for runtime validation</a:t>
            </a:r>
          </a:p>
          <a:p>
            <a:pPr/>
            <a:r>
              <a:t>C. Using Axios interceptors only</a:t>
            </a:r>
          </a:p>
          <a:p>
            <a:pPr/>
            <a:r>
              <a:t>D. Using Jest assertions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4: Testing Paradigms &amp; Quality Assurance</a:t>
            </a:r>
          </a:p>
        </p:txBody>
      </p:sp>
      <p:sp>
        <p:nvSpPr>
          <p:cNvPr id="3" name="Text Placeholder 2"/>
          <p:cNvSpPr>
            <a:spLocks noGrp="1"/>
          </p:cNvSpPr>
          <p:nvPr>
            <p:ph type="body" idx="1"/>
          </p:nvPr>
        </p:nvSpPr>
        <p:spPr/>
        <p:txBody>
          <a:bodyPr/>
          <a:lstStyl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Writing Effective Unit Tests</a:t>
            </a:r>
          </a:p>
        </p:txBody>
      </p:sp>
      <p:sp>
        <p:nvSpPr>
          <p:cNvPr id="3" name="Content Placeholder 2"/>
          <p:cNvSpPr>
            <a:spLocks noGrp="1"/>
          </p:cNvSpPr>
          <p:nvPr>
            <p:ph idx="1"/>
          </p:nvPr>
        </p:nvSpPr>
        <p:spPr/>
        <p:txBody>
          <a:bodyPr/>
          <a:lstStyle/>
          <a:p/>
          <a:p>
            <a:pPr/>
            <a:r>
              <a:t>Use Jest for testing pure functions, utilities, and hooks</a:t>
            </a:r>
          </a:p>
          <a:p>
            <a:pPr/>
            <a:r>
              <a:t>Mock external dependencies and modules cleanly</a:t>
            </a:r>
          </a:p>
          <a:p>
            <a:pPr/>
            <a:r>
              <a:t>Focus on behavior and edge cases rather than implementation details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Testing Components as Users See Them</a:t>
            </a:r>
          </a:p>
        </p:txBody>
      </p:sp>
      <p:sp>
        <p:nvSpPr>
          <p:cNvPr id="3" name="Content Placeholder 2"/>
          <p:cNvSpPr>
            <a:spLocks noGrp="1"/>
          </p:cNvSpPr>
          <p:nvPr>
            <p:ph idx="1"/>
          </p:nvPr>
        </p:nvSpPr>
        <p:spPr/>
        <p:txBody>
          <a:bodyPr/>
          <a:lstStyle/>
          <a:p/>
          <a:p>
            <a:pPr/>
            <a:r>
              <a:t>Query elements using accessible roles (getByRole)</a:t>
            </a:r>
          </a:p>
          <a:p>
            <a:pPr/>
            <a:r>
              <a:t>Simulate realistic user interactions with userEvent</a:t>
            </a:r>
          </a:p>
          <a:p>
            <a:pPr/>
            <a:r>
              <a:t>Avoid testing internal state or private component methods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Ensuring Inclusive Experiences</a:t>
            </a:r>
          </a:p>
        </p:txBody>
      </p:sp>
      <p:sp>
        <p:nvSpPr>
          <p:cNvPr id="3" name="Content Placeholder 2"/>
          <p:cNvSpPr>
            <a:spLocks noGrp="1"/>
          </p:cNvSpPr>
          <p:nvPr>
            <p:ph idx="1"/>
          </p:nvPr>
        </p:nvSpPr>
        <p:spPr/>
        <p:txBody>
          <a:bodyPr/>
          <a:lstStyle/>
          <a:p/>
          <a:p>
            <a:pPr/>
            <a:r>
              <a:t>Integrate jest-axe for automated accessibility checks</a:t>
            </a:r>
          </a:p>
          <a:p>
            <a:pPr/>
            <a:r>
              <a:t>Ensure proper semantic HTML and ARIA attributes</a:t>
            </a:r>
          </a:p>
          <a:p>
            <a:pPr/>
            <a:r>
              <a:t>Verify keyboard navigation and focus management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Quiz: What is the preferred way to query elements when writing integration tests with React Testing Library?</a:t>
            </a:r>
          </a:p>
        </p:txBody>
      </p:sp>
      <p:sp>
        <p:nvSpPr>
          <p:cNvPr id="3" name="Content Placeholder 2"/>
          <p:cNvSpPr>
            <a:spLocks noGrp="1"/>
          </p:cNvSpPr>
          <p:nvPr>
            <p:ph idx="1"/>
          </p:nvPr>
        </p:nvSpPr>
        <p:spPr/>
        <p:txBody>
          <a:bodyPr/>
          <a:lstStyle/>
          <a:p/>
          <a:p>
            <a:pPr/>
            <a:r>
              <a:t>A. By querying CSS class names directly</a:t>
            </a:r>
          </a:p>
          <a:p>
            <a:pPr/>
            <a:r>
              <a:t>B. By using internal component state values</a:t>
            </a:r>
          </a:p>
          <a:p>
            <a:pPr/>
            <a:r>
              <a:t>C. [Correct] By accessible roles (e.g., getByRole)</a:t>
            </a:r>
          </a:p>
          <a:p>
            <a:pPr/>
            <a:r>
              <a:t>D. By database IDs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Quiz: Which tool do we use to automate accessibility audits during integration testing?</a:t>
            </a:r>
          </a:p>
        </p:txBody>
      </p:sp>
      <p:sp>
        <p:nvSpPr>
          <p:cNvPr id="3" name="Content Placeholder 2"/>
          <p:cNvSpPr>
            <a:spLocks noGrp="1"/>
          </p:cNvSpPr>
          <p:nvPr>
            <p:ph idx="1"/>
          </p:nvPr>
        </p:nvSpPr>
        <p:spPr/>
        <p:txBody>
          <a:bodyPr/>
          <a:lstStyle/>
          <a:p/>
          <a:p>
            <a:pPr/>
            <a:r>
              <a:t>A. [Correct] Jest-axe</a:t>
            </a:r>
          </a:p>
          <a:p>
            <a:pPr/>
            <a:r>
              <a:t>B. ESLint</a:t>
            </a:r>
          </a:p>
          <a:p>
            <a:pPr/>
            <a:r>
              <a:t>C. Prettier</a:t>
            </a:r>
          </a:p>
          <a:p>
            <a:pPr/>
            <a:r>
              <a:t>D. React DevTools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5: Performance Tuning &amp; Code Delivery</a:t>
            </a:r>
          </a:p>
        </p:txBody>
      </p:sp>
      <p:sp>
        <p:nvSpPr>
          <p:cNvPr id="3" name="Text Placeholder 2"/>
          <p:cNvSpPr>
            <a:spLocks noGrp="1"/>
          </p:cNvSpPr>
          <p:nvPr>
            <p:ph type="body" idx="1"/>
          </p:nvPr>
        </p:nvSpPr>
        <p:spPr/>
        <p:txBody>
          <a:bodyPr/>
          <a:lstStyle/>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Optimizing React Rendering</a:t>
            </a:r>
          </a:p>
        </p:txBody>
      </p:sp>
      <p:sp>
        <p:nvSpPr>
          <p:cNvPr id="3" name="Content Placeholder 2"/>
          <p:cNvSpPr>
            <a:spLocks noGrp="1"/>
          </p:cNvSpPr>
          <p:nvPr>
            <p:ph idx="1"/>
          </p:nvPr>
        </p:nvSpPr>
        <p:spPr/>
        <p:txBody>
          <a:bodyPr/>
          <a:lstStyle/>
          <a:p/>
          <a:p>
            <a:pPr/>
            <a:r>
              <a:t>Identify unnecessary re-renders using React DevTools Profiler</a:t>
            </a:r>
          </a:p>
          <a:p>
            <a:pPr/>
            <a:r>
              <a:t>Memoize expensive computations with useMemo and useCallback</a:t>
            </a:r>
          </a:p>
          <a:p>
            <a:pPr/>
            <a:r>
              <a:t>Implement code splitting with React.lazy and Suspense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Code Review Philosophy</a:t>
            </a:r>
          </a:p>
        </p:txBody>
      </p:sp>
      <p:sp>
        <p:nvSpPr>
          <p:cNvPr id="3" name="Content Placeholder 2"/>
          <p:cNvSpPr>
            <a:spLocks noGrp="1"/>
          </p:cNvSpPr>
          <p:nvPr>
            <p:ph idx="1"/>
          </p:nvPr>
        </p:nvSpPr>
        <p:spPr/>
        <p:txBody>
          <a:bodyPr/>
          <a:lstStyle/>
          <a:p/>
          <a:p>
            <a:pPr/>
            <a:r>
              <a:t>Keep Pull Requests small, focused, and atomic</a:t>
            </a:r>
          </a:p>
          <a:p>
            <a:pPr/>
            <a:r>
              <a:t>Adhere to Conventional Commits for clear history</a:t>
            </a:r>
          </a:p>
          <a:p>
            <a:pPr/>
            <a:r>
              <a:t>Provide constructive, actionable feedback in reviews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Continuous Integration &amp; Delivery</a:t>
            </a:r>
          </a:p>
        </p:txBody>
      </p:sp>
      <p:sp>
        <p:nvSpPr>
          <p:cNvPr id="3" name="Content Placeholder 2"/>
          <p:cNvSpPr>
            <a:spLocks noGrp="1"/>
          </p:cNvSpPr>
          <p:nvPr>
            <p:ph idx="1"/>
          </p:nvPr>
        </p:nvSpPr>
        <p:spPr/>
        <p:txBody>
          <a:bodyPr/>
          <a:lstStyle/>
          <a:p/>
          <a:p>
            <a:pPr/>
            <a:r>
              <a:t>Automated linting, formatting, and testing on every push</a:t>
            </a:r>
          </a:p>
          <a:p>
            <a:pPr/>
            <a:r>
              <a:t>Preview deployments generated automatically for PRs</a:t>
            </a:r>
          </a:p>
          <a:p>
            <a:pPr/>
            <a:r>
              <a:t>Production deployments triggered via main branch merges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Quiz: What should you do before applying optimization techniques like useMemo or useCallback?</a:t>
            </a:r>
          </a:p>
        </p:txBody>
      </p:sp>
      <p:sp>
        <p:nvSpPr>
          <p:cNvPr id="3" name="Content Placeholder 2"/>
          <p:cNvSpPr>
            <a:spLocks noGrp="1"/>
          </p:cNvSpPr>
          <p:nvPr>
            <p:ph idx="1"/>
          </p:nvPr>
        </p:nvSpPr>
        <p:spPr/>
        <p:txBody>
          <a:bodyPr/>
          <a:lstStyle/>
          <a:p/>
          <a:p>
            <a:pPr/>
            <a:r>
              <a:t>A. Apply them to every component by default</a:t>
            </a:r>
          </a:p>
          <a:p>
            <a:pPr/>
            <a:r>
              <a:t>B. [Correct] Profile the application using React DevTools to identify actual bottlenecks</a:t>
            </a:r>
          </a:p>
          <a:p>
            <a:pPr/>
            <a:r>
              <a:t>C. Disable CI/CD pipelines to speed up local builds</a:t>
            </a:r>
          </a:p>
          <a:p>
            <a:pPr/>
            <a:r>
              <a:t>D. Convert all components into class components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Quiz: What commit standard do we follow to maintain structured and automated changelogs?</a:t>
            </a:r>
          </a:p>
        </p:txBody>
      </p:sp>
      <p:sp>
        <p:nvSpPr>
          <p:cNvPr id="3" name="Content Placeholder 2"/>
          <p:cNvSpPr>
            <a:spLocks noGrp="1"/>
          </p:cNvSpPr>
          <p:nvPr>
            <p:ph idx="1"/>
          </p:nvPr>
        </p:nvSpPr>
        <p:spPr/>
        <p:txBody>
          <a:bodyPr/>
          <a:lstStyle/>
          <a:p/>
          <a:p>
            <a:pPr/>
            <a:r>
              <a:t>A. Ad-hoc Commit Messages</a:t>
            </a:r>
          </a:p>
          <a:p>
            <a:pPr/>
            <a:r>
              <a:t>B. [Correct] Conventional Commits</a:t>
            </a:r>
          </a:p>
          <a:p>
            <a:pPr/>
            <a:r>
              <a:t>C. GitHub Issue Linking only</a:t>
            </a:r>
          </a:p>
          <a:p>
            <a:pPr/>
            <a:r>
              <a:t>D. Git Flow Commits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